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303520" cy="411480"/>
          </a:xfrm>
          <a:prstGeom prst="roundRect">
            <a:avLst/>
          </a:prstGeom>
          <a:solidFill>
            <a:srgbClr val="10281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0B981"/>
                </a:solidFill>
              </a:defRPr>
            </a:pPr>
            <a:r>
              <a:t>BUILD WITH AI: CODE FOR COMMUNITIES (SEASON 2) •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8FAFC"/>
                </a:solidFill>
              </a:defRPr>
            </a:pPr>
            <a:r>
              <a:t>🏛️ GovGrid</a:t>
            </a:r>
          </a:p>
          <a:p>
            <a:pPr>
              <a:defRPr sz="3200" b="1">
                <a:solidFill>
                  <a:srgbClr val="10B981"/>
                </a:solidFill>
              </a:defRPr>
            </a:pPr>
            <a:r>
              <a:t>AI-Powered DPI Public Budget Reconciliation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Bridging Citizen Ground-Truth Grievances with Public Capital Disbursements using Google Cloud BigQuery GIS, Vertex AI Gemini 2.5 Flash, and Jan-Vani Multilingual Voice Infrastructure.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120640"/>
            <a:ext cx="10698480" cy="1097280"/>
          </a:xfrm>
          <a:prstGeom prst="roundRect">
            <a:avLst/>
          </a:prstGeom>
          <a:solidFill>
            <a:srgbClr val="141B24"/>
          </a:solidFill>
          <a:ln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🌐 LIVE PRODUCTION WEB APP: https://govgrid.web.app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📦 GitHub: github.com/silent-doom/govgrid  •  Deployed on Google Cloud Firebase  •  BigQuery Dataset: eventflow-e3c91:govgrid_dpi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GOVGRID • DPI BUDGET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Problem: The Digital Public Infrastructure Accountability Gap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41B2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F4444"/>
                </a:solidFill>
              </a:defRPr>
            </a:pPr>
            <a:r>
              <a:t>01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The 'Ghost Project' Phenomenon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Contractors submit 100% milestone completion certificates and claim public escrow disbursements for civil works (roads, culverts, drainage) that remain unbuilt, stalled, or inundated on the ground.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41B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02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Disconnected Data Silos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Government procurement operates in static PDF tenders on GeM/PFMS. Citizen distress calls flood CPGRAMS &amp; WhatsApp voice lines. Zero real-time geospatial cross-referencing exists between the two.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41B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03</a:t>
            </a:r>
          </a:p>
          <a:p>
            <a:pPr>
              <a:defRPr sz="1800" b="1">
                <a:solidFill>
                  <a:srgbClr val="F8FAFC"/>
                </a:solidFill>
              </a:defRPr>
            </a:pPr>
            <a:r>
              <a:t>Unchecked Capital Leakage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Municipal Commissioners and District Magistrates lack automated forensic mechanisms to cross-verify physical ground realities before releasing taxpayer contingency funds.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GOVGRID • DPI BUDGET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The GovGrid Architecture: Autonomous Reconciliation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011680" cy="4114800"/>
          </a:xfrm>
          <a:prstGeom prst="roundRect">
            <a:avLst/>
          </a:prstGeom>
          <a:solidFill>
            <a:srgbClr val="141B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1. Citizen Inflow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WhatsApp Audio, IVR 104, CPGRAMS in Kannada, Telugu &amp; Hindi.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828800"/>
            <a:ext cx="2011680" cy="4114800"/>
          </a:xfrm>
          <a:prstGeom prst="roundRect">
            <a:avLst/>
          </a:prstGeom>
          <a:solidFill>
            <a:srgbClr val="141B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2. Vertex AI Speech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Colloquial Indic phonetic parsing &amp; translation to English.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828800"/>
            <a:ext cx="2011680" cy="4114800"/>
          </a:xfrm>
          <a:prstGeom prst="roundRect">
            <a:avLst/>
          </a:prstGeom>
          <a:solidFill>
            <a:srgbClr val="141B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3. BigQuery GIS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ST_DWithin 500m-1.5km spatial cross-match against GeM tenders.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1828800"/>
            <a:ext cx="2011680" cy="4114800"/>
          </a:xfrm>
          <a:prstGeom prst="roundRect">
            <a:avLst/>
          </a:prstGeom>
          <a:solidFill>
            <a:srgbClr val="141B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4. Gemini Reasoning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Photogrammetry vs milestone billing discrepancy analysis.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1828800"/>
            <a:ext cx="2011680" cy="4114800"/>
          </a:xfrm>
          <a:prstGeom prst="roundRect">
            <a:avLst/>
          </a:prstGeom>
          <a:solidFill>
            <a:srgbClr val="141B2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5. GFR 175 Freeze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escrow payment freeze &amp; vigilance summons directives.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GOVGRID • DPI BUDGET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Core Engine 1: Google Cloud BigQuery GIS Spatial Analytics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141B2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High-Performance Geospatial Joins (ST_DWithin)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SELECT t.tender_id, t.title, t.disbursed_inr,</a:t>
            </a:r>
            <a:br/>
            <a:r>
              <a:t>       COUNT(g.grievance_id) as defect_count</a:t>
            </a:r>
            <a:br/>
            <a:r>
              <a:t>FROM `eventflow-e3c91.govgrid_dpi.tenders` t</a:t>
            </a:r>
            <a:br/>
            <a:r>
              <a:t>JOIN `eventflow-e3c91.govgrid_dpi.grievances` g</a:t>
            </a:r>
            <a:br/>
            <a:r>
              <a:t>  ON ST_DWithin(</a:t>
            </a:r>
            <a:br/>
            <a:r>
              <a:t>       ST_GeogPoint(t.target_lng, t.target_lat),</a:t>
            </a:r>
            <a:br/>
            <a:r>
              <a:t>       ST_GeogPoint(g.lng, g.lat),</a:t>
            </a:r>
            <a:br/>
            <a:r>
              <a:t>       500 -- 500m dynamic buffer ring</a:t>
            </a:r>
            <a:br/>
            <a:r>
              <a:t>     )</a:t>
            </a:r>
            <a:br/>
            <a:r>
              <a:t>WHERE t.status = 'COMPLETED_CLAIMED'</a:t>
            </a:r>
            <a:br/>
            <a:r>
              <a:t>GROUP BY 1, 2, 3</a:t>
            </a:r>
            <a:br/>
            <a:r>
              <a:t>HAVING defect_count &gt; 10;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41B24"/>
          </a:solidFill>
          <a:ln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Live Telemetry &amp; Geospatial Clustering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167 Grievance Nodes + 45 Civil Tenders actively mapped across Bengaluru, Anantapur, and Delhi.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Uber H3 Resolution-9 Hexbin Indexing identifies unbudgeted civic distress hot spots.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Sub-second Execution: Analyzes municipal boundary buffers at metropolitan scale without server bottlenecks.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• Zero Geospatial Approximation: Uses true WGS84 geodesic geometry (ST_GeogPoint).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GOVGRID • DPI BUDGET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Core Engine 2: Google Vertex AI &amp; Gemini Forensic Discrepancy Auditing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141B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Multimodal Photogrammetry Audit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Gemini 2.5 Flash / 1.5 Pro compares contractor milestone photos against satellite SAR feeds and citizen photos. Detected 22% actual concrete pour vs 100% billed completion on Mahadevapura Ring Road (Ward 14).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141B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Statutory GFR Rule 175 Orders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Automatically constructs legally sound escrow payment freeze orders and vigilance summons under Section 71(b) of the Municipal Governance Act, complete with cryptographic audit timestamps.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141B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Predictive Capital Allocation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Surfaces Unfunded Liabilities (high distress areas with zero capital sanctioned) and triggers emergency diversions under State Disaster Mitigation Fund (SDMF) Head #12.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GOVGRID • DPI BUDGET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Jan-Vani: Inclusive Multilingual Citizen Audio Ingestion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141B2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Vernacular First (ಕನ್ನಡ, తెలుగు, हिन्दी)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Citizens can speak naturally in their mother tongue over WhatsApp voice notes or toll-free IVR line 104 without needing digital literacy or form-filling skills.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011680"/>
          </a:xfrm>
          <a:prstGeom prst="roundRect">
            <a:avLst/>
          </a:prstGeom>
          <a:solidFill>
            <a:srgbClr val="141B24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38BDF8"/>
                </a:solidFill>
              </a:defRPr>
            </a:pPr>
            <a:r>
              <a:t>Native Web Speech Audio Playback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Audio synthesis engine plays verified native Telugu, Kannada, and Hindi audio notes directly inside the Commissioner's dashboard with synchronized phonetic waveforms.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141B24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59E0B"/>
                </a:solidFill>
              </a:defRPr>
            </a:pPr>
            <a:r>
              <a:t>Dual-Script Verifiable Transcripts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Displays original regional language transcript side-by-side with Vertex AI certified English translation and damage confidence metrics (98%).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011680"/>
          </a:xfrm>
          <a:prstGeom prst="roundRect">
            <a:avLst/>
          </a:prstGeom>
          <a:solidFill>
            <a:srgbClr val="141B2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Automated Geotagging &amp; SMS Loop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Transcripts are matched to municipal ward nodes, and complaining citizens receive automated SMS status receipts with public tracking hashes.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GOVGRID • DPI BUDGET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Comprehensive Strategic SWOT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41B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10B981"/>
                </a:solidFill>
              </a:defRPr>
            </a:pPr>
            <a:r>
              <a:t>STRENGTHS (Internal)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Native Google Cloud stack (BigQuery GIS + Vertex AI).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Zero digital barrier: WhatsApp audio voice ingestion.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Statutory integration: GFR Rule 175 &amp; GeM contract schema.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Production live at https://govgrid.web.app.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41B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59E0B"/>
                </a:solidFill>
              </a:defRPr>
            </a:pPr>
            <a:r>
              <a:t>WEAKNESSES (Internal)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Dependent on municipal tender API data feeds.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Dialect nuance variations across deep rural accents.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Requires local government willingness to freeze funds.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High spatial accuracy requires GPS-enabled citizen reports.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120640" cy="2103120"/>
          </a:xfrm>
          <a:prstGeom prst="roundRect">
            <a:avLst/>
          </a:prstGeom>
          <a:solidFill>
            <a:srgbClr val="141B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OPPORTUNITIES (External)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National integration with India Stack (PFMS, GeM, CPGRAMS).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CAG &amp; State Vigilance Commission automated audit feeds.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Adaptable to other developing nations (Southeast Asia, Africa).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Expansion into smart municipal green bond certification.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3931920"/>
            <a:ext cx="5120640" cy="2103120"/>
          </a:xfrm>
          <a:prstGeom prst="roundRect">
            <a:avLst/>
          </a:prstGeom>
          <a:solidFill>
            <a:srgbClr val="141B2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EF4444"/>
                </a:solidFill>
              </a:defRPr>
            </a:pPr>
            <a:r>
              <a:t>THREATS (External)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Contractor lobbying to bypass automated escrow holds.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Municipal data silos and delayed milestone uploads.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Adversarial synthetic grievance spam (mitigated by rate limits).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Bureaucratic resistance to algorithmic expenditure transparency.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GOVGRID • DPI BUDGET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Competitive Innovation &amp; Capability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/>
                <a:gridCol w="2674620"/>
                <a:gridCol w="2674620"/>
                <a:gridCol w="2674620"/>
              </a:tblGrid>
              <a:tr h="877824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10B981"/>
                          </a:solidFill>
                        </a:defRPr>
                      </a:pPr>
                      <a:r>
                        <a:t>Evaluation Capability</a:t>
                      </a:r>
                    </a:p>
                  </a:txBody>
                  <a:tcPr>
                    <a:solidFill>
                      <a:srgbClr val="1923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10B981"/>
                          </a:solidFill>
                        </a:defRPr>
                      </a:pPr>
                      <a:r>
                        <a:t>Legacy Grievance Portals</a:t>
                      </a:r>
                    </a:p>
                    <a:p>
                      <a:r>
                        <a:t>(CPGRAMS, 311)</a:t>
                      </a:r>
                    </a:p>
                  </a:txBody>
                  <a:tcPr>
                    <a:solidFill>
                      <a:srgbClr val="1923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10B981"/>
                          </a:solidFill>
                        </a:defRPr>
                      </a:pPr>
                      <a:r>
                        <a:t>Traditional ERP</a:t>
                      </a:r>
                    </a:p>
                    <a:p>
                      <a:r>
                        <a:t>(SAP, Oracle, NIC)</a:t>
                      </a:r>
                    </a:p>
                  </a:txBody>
                  <a:tcPr>
                    <a:solidFill>
                      <a:srgbClr val="19233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10B981"/>
                          </a:solidFill>
                        </a:defRPr>
                      </a:pPr>
                      <a:r>
                        <a:t>GovGrid DPI Engine</a:t>
                      </a:r>
                    </a:p>
                    <a:p>
                      <a:r>
                        <a:t>(Google AI + BigQuery)</a:t>
                      </a:r>
                    </a:p>
                  </a:txBody>
                  <a:tcPr>
                    <a:solidFill>
                      <a:srgbClr val="192330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Real-Time Spatial Cross-Matching</a:t>
                      </a:r>
                    </a:p>
                  </a:txBody>
                  <a:tcPr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❌ None (Text/Form only)</a:t>
                      </a:r>
                    </a:p>
                  </a:txBody>
                  <a:tcPr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❌ None (Accounting ledgers)</a:t>
                      </a:r>
                    </a:p>
                  </a:txBody>
                  <a:tcPr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✅ Automated BigQuery ST_DWithin (500m)</a:t>
                      </a:r>
                    </a:p>
                  </a:txBody>
                  <a:tcPr>
                    <a:solidFill>
                      <a:srgbClr val="141B24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Vernacular Voice Note Processing</a:t>
                      </a:r>
                    </a:p>
                  </a:txBody>
                  <a:tcPr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❌ English/Regional text only</a:t>
                      </a:r>
                    </a:p>
                  </a:txBody>
                  <a:tcPr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❌ No audio ingestion</a:t>
                      </a:r>
                    </a:p>
                  </a:txBody>
                  <a:tcPr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✅ WhatsApp Audio (Kannada, Telugu, Hindi)</a:t>
                      </a:r>
                    </a:p>
                  </a:txBody>
                  <a:tcPr>
                    <a:solidFill>
                      <a:srgbClr val="141B24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Photogrammetric Milestone Audit</a:t>
                      </a:r>
                    </a:p>
                  </a:txBody>
                  <a:tcPr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❌ Manual officer visits</a:t>
                      </a:r>
                    </a:p>
                  </a:txBody>
                  <a:tcPr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❌ Paper certificate</a:t>
                      </a:r>
                    </a:p>
                  </a:txBody>
                  <a:tcPr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✅ Vertex AI Multimodal Satellite Cross-Check</a:t>
                      </a:r>
                    </a:p>
                  </a:txBody>
                  <a:tcPr>
                    <a:solidFill>
                      <a:srgbClr val="141B24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pPr algn="l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Statutory Payment Freeze Directives</a:t>
                      </a:r>
                    </a:p>
                  </a:txBody>
                  <a:tcPr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❌ No financial link</a:t>
                      </a:r>
                    </a:p>
                  </a:txBody>
                  <a:tcPr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⚠️ Slow post-facto audit</a:t>
                      </a:r>
                    </a:p>
                  </a:txBody>
                  <a:tcPr>
                    <a:solidFill>
                      <a:srgbClr val="141B2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8FAFC"/>
                          </a:solidFill>
                        </a:defRPr>
                      </a:pPr>
                      <a:r>
                        <a:t>✅ Immediate GFR Rule 175 Escrow Freeze</a:t>
                      </a:r>
                    </a:p>
                  </a:txBody>
                  <a:tcPr>
                    <a:solidFill>
                      <a:srgbClr val="141B2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GOVGRID • DPI BUDGET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Demonstrated Impact &amp; Measurable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41B2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EF4444"/>
                </a:solidFill>
              </a:defRPr>
            </a:pPr>
            <a:r>
              <a:t>₹18.5 Cr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Capital Protected in Ward 14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Immediate escrow freeze on Mahadevapura Ring Road project against 142 citizen defect clusters within 500m.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141B2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312 Calls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Zero-Budget Anomaly Resolved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Detected water main breach in Kadugodi; sanctioned ₹3.2 Cr emergency SDMF allocation.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141B2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98% Match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Multimodal Verification Accuracy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Gemini 2.5 Flash cross-referencing satellite imagery vs claimed concrete pour milestones.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141B2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&lt; 500ms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BigQuery GIS Query Latency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Automated geospatial spatial joins across thousands of tender buffers in sub-second time.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Arial"/>
              </a:defRPr>
            </a:pPr>
            <a:r>
              <a:t>GOVGRID • DPI BUDGET RECONCILIATION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Arial"/>
              </a:defRPr>
            </a:pPr>
            <a:r>
              <a:t>Production Readiness, Deployment &amp; Verification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389120"/>
          </a:xfrm>
          <a:prstGeom prst="roundRect">
            <a:avLst/>
          </a:prstGeom>
          <a:solidFill>
            <a:srgbClr val="141B24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🏛️ GovGrid is 100% Built, Deployed &amp; Live on Google Cloud!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🌐 Official Live Web Application: https://govgrid.web.app (Alternative Mirror: https://govgrid.firebaseapp.com)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📦 Open-Source GitHub Repository: https://github.com/silent-doom/govgrid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🗄️ Google Cloud BigQuery: Production dataset 'eventflow-e3c91:govgrid_dpi' in asia-south1 region with 45 tenders and 167 grievances.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⚡ Google Vertex AI Gemini: Multimodal discrepancy scoring with General Financial Rules (GFR) Rule 175 freeze directives.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🎙️ Jan-Vani Voice DPI: Native Telugu, Kannada &amp; Hindi audio playback with verified bilingual transcripts and WhatsApp simulator.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🧭 Enterprise UX: 2-tier responsive header with Quick Links palette (⌘K) and interactive Civic FAQ knowledge drawer.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• 🚀 Scalability: Multi-stage Dockerfile containerized, zero-downtime hybrid client fallback, and Cloud Run ready.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